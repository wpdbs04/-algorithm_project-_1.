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Grandview" panose="020B0502040204020203" pitchFamily="34" charset="0"/>
      <p:regular r:id="rId15"/>
      <p:bold r:id="rId16"/>
      <p:italic r:id="rId17"/>
      <p:boldItalic r:id="rId18"/>
    </p:embeddedFont>
    <p:embeddedFont>
      <p:font typeface="Noto Sans KR" panose="020B0200000000000000" pitchFamily="50" charset="-127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1999" y="4243386"/>
            <a:ext cx="8243977" cy="4571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1500187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Noto Sans KR"/>
              </a:rPr>
              <a:t>창의공학설계 텀 프로젝트 최종 결과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19287"/>
            <a:ext cx="9701212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1" i="0" u="none">
                <a:solidFill>
                  <a:srgbClr val="F8FAFC"/>
                </a:solidFill>
                <a:latin typeface="Noto Sans KR"/>
              </a:rPr>
              <a:t>알고리즘 시각화 툴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99" y="3690937"/>
            <a:ext cx="1066800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4A3B8"/>
                </a:solidFill>
                <a:latin typeface="Noto Sans KR"/>
              </a:rPr>
              <a:t>NGINX L7 로드 밸런싱 아키텍처와 실제 도메인 데이터를 연동한 </a:t>
            </a:r>
            <a:r>
              <a:rPr lang="ko-KR" altLang="en-US" b="1">
                <a:solidFill>
                  <a:srgbClr val="94A3B8"/>
                </a:solidFill>
                <a:latin typeface="Noto Sans KR"/>
              </a:rPr>
              <a:t>네트워크의 알고리즘 </a:t>
            </a:r>
            <a:r>
              <a:rPr sz="1800" b="1" i="0" u="none">
                <a:solidFill>
                  <a:srgbClr val="94A3B8"/>
                </a:solidFill>
                <a:latin typeface="Noto Sans KR"/>
              </a:rPr>
              <a:t>시각화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98" y="4502539"/>
            <a:ext cx="245852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CBD5E1"/>
                </a:solidFill>
                <a:latin typeface="Noto Sans KR"/>
              </a:rPr>
              <a:t>PPT &amp;</a:t>
            </a:r>
            <a:r>
              <a:rPr lang="ko-KR" altLang="en-US" sz="1500" b="1">
                <a:solidFill>
                  <a:srgbClr val="CBD5E1"/>
                </a:solidFill>
                <a:latin typeface="Noto Sans KR"/>
              </a:rPr>
              <a:t> 제작자 </a:t>
            </a:r>
            <a:r>
              <a:rPr lang="en-US" altLang="ko-KR" sz="1500" b="1">
                <a:solidFill>
                  <a:srgbClr val="CBD5E1"/>
                </a:solidFill>
                <a:latin typeface="Noto Sans KR"/>
              </a:rPr>
              <a:t>: </a:t>
            </a:r>
            <a:r>
              <a:rPr lang="ko-KR" altLang="en-US" sz="1500" b="1">
                <a:solidFill>
                  <a:srgbClr val="CBD5E1"/>
                </a:solidFill>
                <a:latin typeface="Noto Sans KR"/>
              </a:rPr>
              <a:t>이제윤 </a:t>
            </a:r>
            <a:br>
              <a:rPr lang="en-US" altLang="ko-KR" sz="1500" b="1">
                <a:solidFill>
                  <a:srgbClr val="CBD5E1"/>
                </a:solidFill>
                <a:latin typeface="Noto Sans KR"/>
              </a:rPr>
            </a:br>
            <a:r>
              <a:rPr lang="ko-KR" altLang="en-US" sz="1500" b="1">
                <a:solidFill>
                  <a:srgbClr val="CBD5E1"/>
                </a:solidFill>
                <a:latin typeface="Noto Sans KR"/>
              </a:rPr>
              <a:t>학번 </a:t>
            </a:r>
            <a:r>
              <a:rPr lang="en-US" altLang="ko-KR" sz="1500" b="1">
                <a:solidFill>
                  <a:srgbClr val="CBD5E1"/>
                </a:solidFill>
                <a:latin typeface="Noto Sans KR"/>
              </a:rPr>
              <a:t>: 233912</a:t>
            </a:r>
            <a:br>
              <a:rPr lang="en-US" altLang="ko-KR" sz="1500" b="1">
                <a:solidFill>
                  <a:srgbClr val="CBD5E1"/>
                </a:solidFill>
                <a:latin typeface="Noto Sans KR"/>
              </a:rPr>
            </a:br>
            <a:r>
              <a:rPr lang="ko-KR" altLang="en-US" sz="1500" b="1">
                <a:solidFill>
                  <a:srgbClr val="CBD5E1"/>
                </a:solidFill>
                <a:latin typeface="Noto Sans KR"/>
              </a:rPr>
              <a:t>학과</a:t>
            </a:r>
            <a:r>
              <a:rPr lang="en-US" altLang="ko-KR" sz="1500" b="1">
                <a:solidFill>
                  <a:srgbClr val="CBD5E1"/>
                </a:solidFill>
                <a:latin typeface="Noto Sans KR"/>
              </a:rPr>
              <a:t> : </a:t>
            </a:r>
            <a:r>
              <a:rPr lang="ko-KR" altLang="en-US" sz="1500" b="1">
                <a:solidFill>
                  <a:srgbClr val="CBD5E1"/>
                </a:solidFill>
                <a:latin typeface="Noto Sans KR"/>
              </a:rPr>
              <a:t>컴퓨터공학과 </a:t>
            </a:r>
            <a:br>
              <a:rPr lang="en-US" altLang="ko-KR" sz="1500" b="1">
                <a:solidFill>
                  <a:srgbClr val="CBD5E1"/>
                </a:solidFill>
                <a:latin typeface="Noto Sans KR"/>
              </a:rPr>
            </a:br>
            <a:r>
              <a:rPr lang="ko-KR" altLang="en-US" sz="1500" b="1">
                <a:solidFill>
                  <a:srgbClr val="CBD5E1"/>
                </a:solidFill>
                <a:latin typeface="Noto Sans KR"/>
              </a:rPr>
              <a:t>날짜 </a:t>
            </a:r>
            <a:r>
              <a:rPr lang="en-US" altLang="ko-KR" sz="1500" b="1">
                <a:solidFill>
                  <a:srgbClr val="CBD5E1"/>
                </a:solidFill>
                <a:latin typeface="Noto Sans KR"/>
              </a:rPr>
              <a:t>: 2026/10/26 </a:t>
            </a:r>
            <a:r>
              <a:rPr lang="ko-KR" altLang="en-US" sz="1500" b="1">
                <a:solidFill>
                  <a:srgbClr val="CBD5E1"/>
                </a:solidFill>
                <a:latin typeface="Noto Sans KR"/>
              </a:rPr>
              <a:t>월요일</a:t>
            </a:r>
            <a:endParaRPr lang="en-US" altLang="ko-KR" sz="1500" b="1" i="0" u="none">
              <a:solidFill>
                <a:srgbClr val="CBD5E1"/>
              </a:solidFill>
              <a:latin typeface="Noto Sans KR"/>
            </a:endParaRPr>
          </a:p>
        </p:txBody>
      </p:sp>
      <p:pic>
        <p:nvPicPr>
          <p:cNvPr id="7" name="그림 6" descr="알고리즘 - 무료 컴퓨터개 아이콘">
            <a:extLst>
              <a:ext uri="{FF2B5EF4-FFF2-40B4-BE49-F238E27FC236}">
                <a16:creationId xmlns:a16="http://schemas.microsoft.com/office/drawing/2014/main" id="{CDF77241-230C-EF4A-A9DF-52D6A76C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050" y="1681914"/>
            <a:ext cx="1154373" cy="1154373"/>
          </a:xfrm>
          <a:prstGeom prst="rect">
            <a:avLst/>
          </a:prstGeom>
        </p:spPr>
      </p:pic>
      <p:pic>
        <p:nvPicPr>
          <p:cNvPr id="11" name="그림 10" descr="알고리즘 | 코드머니 브리핑">
            <a:extLst>
              <a:ext uri="{FF2B5EF4-FFF2-40B4-BE49-F238E27FC236}">
                <a16:creationId xmlns:a16="http://schemas.microsoft.com/office/drawing/2014/main" id="{FA7C7FBD-6FF0-CD12-E19E-B6665EDA3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692" y="-223841"/>
            <a:ext cx="4537134" cy="2559409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7975"/>
            <a:ext cx="2286000" cy="2105025"/>
          </a:xfrm>
          <a:prstGeom prst="roundRect">
            <a:avLst>
              <a:gd name="adj" fmla="val 72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505200" y="2847975"/>
            <a:ext cx="2286000" cy="2105025"/>
          </a:xfrm>
          <a:prstGeom prst="roundRect">
            <a:avLst>
              <a:gd name="adj" fmla="val 72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0" y="2847975"/>
            <a:ext cx="2286000" cy="2105025"/>
          </a:xfrm>
          <a:prstGeom prst="roundRect">
            <a:avLst>
              <a:gd name="adj" fmla="val 72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96400" y="2847975"/>
            <a:ext cx="2286000" cy="2105025"/>
          </a:xfrm>
          <a:prstGeom prst="roundRect">
            <a:avLst>
              <a:gd name="adj" fmla="val 72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378618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0" y="378618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3786187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KR"/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"/>
            <a:ext cx="326050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700" b="1" i="0" u="none">
                <a:solidFill>
                  <a:srgbClr val="0F172A"/>
                </a:solidFill>
                <a:latin typeface="Noto Sans KR"/>
              </a:rPr>
              <a:t>텀 프로젝트 </a:t>
            </a:r>
            <a:r>
              <a:rPr sz="2700" b="1" i="0" u="none">
                <a:solidFill>
                  <a:srgbClr val="0F172A"/>
                </a:solidFill>
                <a:latin typeface="Noto Sans KR"/>
              </a:rPr>
              <a:t>발표 목차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190875"/>
            <a:ext cx="36227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Noto Sans KR" panose="020B0200000000000000" pitchFamily="50" charset="-127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667125"/>
            <a:ext cx="24003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Noto Sans KR"/>
              </a:rPr>
              <a:t>서론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14800"/>
            <a:ext cx="1924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KR"/>
              </a:rPr>
              <a:t>프로젝트 개요 및 아키텍처 변경점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800" y="3190875"/>
            <a:ext cx="36227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Noto Sans KR" panose="020B0200000000000000" pitchFamily="50" charset="-127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800" y="3667125"/>
            <a:ext cx="24003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Noto Sans KR"/>
              </a:rPr>
              <a:t>본론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800" y="4114800"/>
            <a:ext cx="1924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KR"/>
              </a:rPr>
              <a:t>사이트 구조·플로우차트·주소핫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90875"/>
            <a:ext cx="36227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D9488"/>
                </a:solidFill>
                <a:latin typeface="Noto Sans KR" panose="020B0200000000000000" pitchFamily="50" charset="-127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67125"/>
            <a:ext cx="24003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Noto Sans KR"/>
              </a:rPr>
              <a:t>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114800"/>
            <a:ext cx="1924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KR"/>
              </a:rPr>
              <a:t>v12 요약 복사·시연 비교·형상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0" y="3190875"/>
            <a:ext cx="36227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D9488"/>
                </a:solidFill>
                <a:latin typeface="Noto Sans KR" panose="020B0200000000000000" pitchFamily="50" charset="-127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3667125"/>
            <a:ext cx="24003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Noto Sans KR"/>
              </a:rPr>
              <a:t>느낀점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4114800"/>
            <a:ext cx="1924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KR"/>
              </a:rPr>
              <a:t>공학적 배움과 프로젝트 최종 성찰</a:t>
            </a:r>
          </a:p>
        </p:txBody>
      </p:sp>
      <p:pic>
        <p:nvPicPr>
          <p:cNvPr id="24" name="그림 23" descr="The image depicts a simple, abstract, black and white illustration of a mechanical gear connected to a central node, suggesting a conceptual or conceptual diagram.&#10;&#10;AI 생성 콘텐츠는 정확하지 않을 수 있습니다.">
            <a:extLst>
              <a:ext uri="{FF2B5EF4-FFF2-40B4-BE49-F238E27FC236}">
                <a16:creationId xmlns:a16="http://schemas.microsoft.com/office/drawing/2014/main" id="{2B98D40B-2864-7F2B-3339-D3736211B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108" y="241176"/>
            <a:ext cx="1419045" cy="1419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05050"/>
            <a:ext cx="4662041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09841" y="2305050"/>
            <a:ext cx="5472558" cy="1647825"/>
          </a:xfrm>
          <a:prstGeom prst="roundRect">
            <a:avLst>
              <a:gd name="adj" fmla="val 809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181475"/>
            <a:ext cx="3530649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4181475"/>
            <a:ext cx="3530649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4181475"/>
            <a:ext cx="3530649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241" y="2938462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KR"/>
              </a:rPr>
              <a:t>01. 서론 (Introduction) — 프로젝트 개요 및 계획 변경점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이론적 시각화 모델에서 현실적 웹 서버 아키텍처로의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1750"/>
            <a:ext cx="506555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Noto Sans KR"/>
              </a:rPr>
              <a:t>기존 1차 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28925"/>
            <a:ext cx="531882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75569"/>
                </a:solidFill>
                <a:latin typeface="Noto Sans KR"/>
              </a:rPr>
              <a:t>이론적 시각화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28975"/>
            <a:ext cx="41476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Noto Sans KR"/>
              </a:rPr>
              <a:t>겉모습만 묘사하는 정적 애니메이션 및 단순 더미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641" y="2571750"/>
            <a:ext cx="577735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Noto Sans KR"/>
              </a:rPr>
              <a:t>변경된 최종 설계 (3주차 전면 수정)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641" y="2828925"/>
            <a:ext cx="577735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Noto Sans KR"/>
              </a:rPr>
              <a:t>현실적 NGINX 아키텍처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641" y="3228975"/>
            <a:ext cx="49582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40AF"/>
                </a:solidFill>
                <a:latin typeface="Noto Sans KR"/>
              </a:rPr>
              <a:t>실제 웹 생태계와 동일한 로드 밸런싱 논리 적용 및 공학적 완성도 극대화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429125"/>
            <a:ext cx="403390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Noto Sans KR"/>
              </a:rPr>
              <a:t>프로젝트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772025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HTML 기반 인터랙티브 알고리즘 시각화 툴 개발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349" y="4429125"/>
            <a:ext cx="403390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Noto Sans KR"/>
              </a:rPr>
              <a:t>주요 업데이트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349" y="4772025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점선 애니메이션 기반 그래프 표현 개선 및 문제점 해결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499" y="4429125"/>
            <a:ext cx="3911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Noto Sans KR"/>
              </a:rPr>
              <a:t>개발 방법론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99" y="4772025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생성형 AI 설계 보조와 계층형 네트워크 흐름 고도화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28875"/>
            <a:ext cx="6108650" cy="2886075"/>
          </a:xfrm>
          <a:prstGeom prst="roundRect">
            <a:avLst>
              <a:gd name="adj" fmla="val 528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31074" y="1776412"/>
            <a:ext cx="4521249" cy="1238250"/>
          </a:xfrm>
          <a:prstGeom prst="roundRect">
            <a:avLst>
              <a:gd name="adj" fmla="val 10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31074" y="3205162"/>
            <a:ext cx="4521249" cy="1238250"/>
          </a:xfrm>
          <a:prstGeom prst="roundRect">
            <a:avLst>
              <a:gd name="adj" fmla="val 10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31074" y="4633912"/>
            <a:ext cx="4521249" cy="1238250"/>
          </a:xfrm>
          <a:prstGeom prst="roundRect">
            <a:avLst>
              <a:gd name="adj" fmla="val 10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8200" y="3028950"/>
            <a:ext cx="3389709" cy="2095500"/>
          </a:xfrm>
          <a:prstGeom prst="roundRect">
            <a:avLst>
              <a:gd name="adj" fmla="val 545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9650" y="4438650"/>
            <a:ext cx="3046809" cy="514350"/>
          </a:xfrm>
          <a:prstGeom prst="roundRect">
            <a:avLst>
              <a:gd name="adj" fmla="val 14814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0309" y="3171825"/>
            <a:ext cx="2109341" cy="838200"/>
          </a:xfrm>
          <a:prstGeom prst="roundRect">
            <a:avLst>
              <a:gd name="adj" fmla="val 1136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0309" y="4105275"/>
            <a:ext cx="2109341" cy="876300"/>
          </a:xfrm>
          <a:prstGeom prst="roundRect">
            <a:avLst>
              <a:gd name="adj" fmla="val 108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9650" y="3200400"/>
            <a:ext cx="768399" cy="495300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63799" y="3200400"/>
            <a:ext cx="974675" cy="495300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24225" y="3200400"/>
            <a:ext cx="732085" cy="495300"/>
          </a:xfrm>
          <a:prstGeom prst="roundRect">
            <a:avLst>
              <a:gd name="adj" fmla="val 15384"/>
            </a:avLst>
          </a:prstGeom>
          <a:solidFill>
            <a:srgbClr val="1D4ED8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9650" y="3829050"/>
            <a:ext cx="964852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952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050702" y="3829050"/>
            <a:ext cx="964852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952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91755" y="3829050"/>
            <a:ext cx="964852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99" y="3390900"/>
            <a:ext cx="17145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3390900"/>
            <a:ext cx="17145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09" y="3514725"/>
            <a:ext cx="1880741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62981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KR"/>
              </a:rPr>
              <a:t>02. 본론 (Body) — 알고리즘 시각화 사이트 구조 (Structure of Algorithm Visualization Site)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실시간 토폴로지 인터페이스 및 데이터 제어 패널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2619375"/>
            <a:ext cx="277159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Noto Sans KR" panose="020B0200000000000000" pitchFamily="50" charset="-127"/>
              </a:rPr>
              <a:t>NGINX L7 | Algorithm Visualization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9272" y="2628900"/>
            <a:ext cx="102592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DE80"/>
                </a:solidFill>
                <a:latin typeface="Noto Sans KR" panose="020B0200000000000000" pitchFamily="50" charset="-127"/>
              </a:rPr>
              <a:t>STREAM: 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9674" y="1985962"/>
            <a:ext cx="490224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4ED8"/>
                </a:solidFill>
                <a:latin typeface="Noto Sans KR"/>
              </a:rPr>
              <a:t>인터랙티브 시각화 인터페이스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9674" y="2347912"/>
            <a:ext cx="415929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HTML 및 SVG 캔버스 기반 </a:t>
            </a:r>
            <a:endParaRPr lang="en-US" sz="1350" b="0" i="0" u="none">
              <a:solidFill>
                <a:srgbClr val="334155"/>
              </a:solidFill>
              <a:latin typeface="Noto Sans KR"/>
            </a:endParaRPr>
          </a:p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실시간 네트워크 패킷 흐름 표현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9674" y="3414712"/>
            <a:ext cx="490224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D9488"/>
                </a:solidFill>
                <a:latin typeface="Noto Sans KR"/>
              </a:rPr>
              <a:t>데이터 제어 및 분석 패널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9674" y="3776662"/>
            <a:ext cx="415929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NGINX 로드 밸런싱(Round Robin) 및 </a:t>
            </a:r>
            <a:endParaRPr lang="en-US" sz="1350" b="0" i="0" u="none">
              <a:solidFill>
                <a:srgbClr val="334155"/>
              </a:solidFill>
              <a:latin typeface="Noto Sans KR"/>
            </a:endParaRPr>
          </a:p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도메인 관심사 지표 산출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9674" y="4843462"/>
            <a:ext cx="490224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노드 및 상태 정보 모니터링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9674" y="5205412"/>
            <a:ext cx="4159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각 마이크로서비스 노드의 부하 상태와 처리량 실시간 추적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525" y="4543425"/>
            <a:ext cx="146104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Algorithm: Round Robin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8320" y="4543425"/>
            <a:ext cx="149051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Noto Sans KR"/>
              </a:rPr>
              <a:t>Simulation Speed ●───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4609" y="3286125"/>
            <a:ext cx="235092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C5FD"/>
                </a:solidFill>
                <a:latin typeface="Noto Sans KR"/>
              </a:rPr>
              <a:t>트래픽 통계 및 관심사 지표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4609" y="4219575"/>
            <a:ext cx="235092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ADE80"/>
                </a:solidFill>
                <a:latin typeface="Noto Sans KR"/>
              </a:rPr>
              <a:t>Real-Time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4609" y="4410075"/>
            <a:ext cx="146354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Noto Sans KR" panose="020B0200000000000000" pitchFamily="50" charset="-127"/>
              </a:rPr>
              <a:t>[00:01] NGINX L7 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4609" y="4562475"/>
            <a:ext cx="197599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Noto Sans KR" panose="020B0200000000000000" pitchFamily="50" charset="-127"/>
              </a:rPr>
              <a:t>[00:02] 363 Sites Loaded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075" y="3295650"/>
            <a:ext cx="8255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Noto Sans KR"/>
              </a:rPr>
              <a:t>Client Req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5224" y="3295650"/>
            <a:ext cx="1031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Noto Sans KR"/>
              </a:rPr>
              <a:t>Edge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5650" y="3295650"/>
            <a:ext cx="78923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Noto Sans KR"/>
              </a:rPr>
              <a:t>NGINX L7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0" y="3914775"/>
            <a:ext cx="107915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E2E8F0"/>
                </a:solidFill>
                <a:latin typeface="Noto Sans KR"/>
              </a:rPr>
              <a:t>Auth 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3552" y="3914775"/>
            <a:ext cx="107915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E2E8F0"/>
                </a:solidFill>
                <a:latin typeface="Noto Sans KR"/>
              </a:rPr>
              <a:t>Graph 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34605" y="3914775"/>
            <a:ext cx="107915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EE7B7"/>
                </a:solidFill>
                <a:latin typeface="Noto Sans KR"/>
              </a:rPr>
              <a:t>Trend Analyzer</a:t>
            </a:r>
          </a:p>
        </p:txBody>
      </p:sp>
      <p:pic>
        <p:nvPicPr>
          <p:cNvPr id="42" name="그림 41" descr="The image displays a webpage with a NGINX L7 Algorithm Visualization Tool interface, inviting users to input a URL for real-time visualization of the request's processing steps and associated algorithms.&#10;&#10;AI 생성 콘텐츠는 정확하지 않을 수 있습니다.">
            <a:extLst>
              <a:ext uri="{FF2B5EF4-FFF2-40B4-BE49-F238E27FC236}">
                <a16:creationId xmlns:a16="http://schemas.microsoft.com/office/drawing/2014/main" id="{AC0FAB16-E2F0-BE6D-6BDA-8C59403F36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4" y="1651534"/>
            <a:ext cx="7211399" cy="4220628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95425"/>
            <a:ext cx="6508105" cy="4752975"/>
          </a:xfrm>
          <a:prstGeom prst="roundRect">
            <a:avLst>
              <a:gd name="adj" fmla="val 320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625328" y="1724025"/>
            <a:ext cx="2476648" cy="4286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596032" y="2457450"/>
            <a:ext cx="4535239" cy="428625"/>
          </a:xfrm>
          <a:prstGeom prst="roundRect">
            <a:avLst>
              <a:gd name="adj" fmla="val 17777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05756" y="4124325"/>
            <a:ext cx="3715791" cy="428625"/>
          </a:xfrm>
          <a:prstGeom prst="roundRect">
            <a:avLst>
              <a:gd name="adj" fmla="val 17777"/>
            </a:avLst>
          </a:prstGeom>
          <a:solidFill>
            <a:srgbClr val="1E293B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44810" y="4857750"/>
            <a:ext cx="5037683" cy="428625"/>
          </a:xfrm>
          <a:prstGeom prst="roundRect">
            <a:avLst>
              <a:gd name="adj" fmla="val 17777"/>
            </a:avLst>
          </a:prstGeom>
          <a:solidFill>
            <a:srgbClr val="1E293B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73696" y="5591175"/>
            <a:ext cx="4779912" cy="428625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705" y="1795462"/>
            <a:ext cx="4083694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705" y="3243262"/>
            <a:ext cx="4083694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705" y="4691062"/>
            <a:ext cx="4083694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3190875"/>
            <a:ext cx="2686645" cy="628650"/>
          </a:xfrm>
          <a:prstGeom prst="roundRect">
            <a:avLst>
              <a:gd name="adj" fmla="val 12121"/>
            </a:avLst>
          </a:prstGeom>
          <a:solidFill>
            <a:srgbClr val="1E3A8A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20629" y="3209925"/>
            <a:ext cx="2492275" cy="590550"/>
          </a:xfrm>
          <a:prstGeom prst="roundRect">
            <a:avLst>
              <a:gd name="adj" fmla="val 12903"/>
            </a:avLst>
          </a:prstGeom>
          <a:solidFill>
            <a:srgbClr val="064E3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328" y="2228850"/>
            <a:ext cx="1905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328" y="2962275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328" y="4629150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8328" y="5362575"/>
            <a:ext cx="1905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KR"/>
              </a:rPr>
              <a:t>02. 본론 (Body) — 알고리즘 시각 플로우 차트 과정 (네트워크 백엔드 처리)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클라이언트 요청부터 최종 UI 렌더링까지의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2971" y="3895725"/>
            <a:ext cx="142696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7171"/>
                </a:solidFill>
                <a:latin typeface="Noto Sans KR"/>
              </a:rPr>
              <a:t>↓ No (Cache Miss)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2934" y="1838325"/>
            <a:ext cx="238143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[Start] Client Request 발생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8690" y="2571750"/>
            <a:ext cx="50499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[Process] NGINX Reverse Proxy 및 Load Balancing 진입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3445" y="3343275"/>
            <a:ext cx="51003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ADE80"/>
                </a:solidFill>
                <a:latin typeface="Noto Sans KR"/>
              </a:rPr>
              <a:t>Yes 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0845" y="4238625"/>
            <a:ext cx="402561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[Process] 백엔드 MSA 노드들로 트래픽 라우팅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663" y="4972050"/>
            <a:ext cx="56779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[Process] Dynamic Interest Parsing 및 Trend Analyzer 스코어링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3394" y="5705475"/>
            <a:ext cx="52605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KR"/>
              </a:rPr>
              <a:t>[End] 최종 연산 Response (JSON/Stream) 반환 및 UI 렌더링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7305" y="2024062"/>
            <a:ext cx="446469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563EB"/>
                </a:solidFill>
                <a:latin typeface="Noto Sans KR"/>
              </a:rPr>
              <a:t>1. 리버스 프록시 및 캐시 분기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7305" y="2366962"/>
            <a:ext cx="3721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NGINX 진입 후 정적 리소스(Cache Hit)는 CDN 엣지 서버에서 즉시 반환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7305" y="3471862"/>
            <a:ext cx="446469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D9488"/>
                </a:solidFill>
                <a:latin typeface="Noto Sans KR"/>
              </a:rPr>
              <a:t>2. MSA 분산 라우팅 및 스코어링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7305" y="3814762"/>
            <a:ext cx="3721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Cache Miss 발생 시 백엔드 노드로 분산하여 관심사 파싱 및 가중치 연산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7305" y="4919662"/>
            <a:ext cx="446469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Noto Sans KR"/>
              </a:rPr>
              <a:t>3. 실시간 스트림 화면 렌더링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7305" y="5262562"/>
            <a:ext cx="37217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JSON/Stream 응답을 기반으로 토폴로지 점선 애니메이션과 지표 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506" y="3305175"/>
            <a:ext cx="283443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KR"/>
              </a:rPr>
              <a:t>[Condition] Cache Hit 여부 판별?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7219" y="3324225"/>
            <a:ext cx="263909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ECFDF5"/>
                </a:solidFill>
                <a:latin typeface="Noto Sans KR"/>
              </a:rPr>
              <a:t>[Process] CDN Edge Cache 반환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47775"/>
            <a:ext cx="10972800" cy="5191125"/>
          </a:xfrm>
          <a:prstGeom prst="roundRect">
            <a:avLst>
              <a:gd name="adj" fmla="val 29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2171700"/>
            <a:ext cx="2762250" cy="428625"/>
          </a:xfrm>
          <a:prstGeom prst="roundRect">
            <a:avLst>
              <a:gd name="adj" fmla="val 50000"/>
            </a:avLst>
          </a:prstGeom>
          <a:solidFill>
            <a:srgbClr val="F5D0FE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2943225"/>
            <a:ext cx="2762250" cy="428625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3714750"/>
            <a:ext cx="2762250" cy="628650"/>
          </a:xfrm>
          <a:prstGeom prst="roundRect">
            <a:avLst>
              <a:gd name="adj" fmla="val 9090"/>
            </a:avLst>
          </a:prstGeom>
          <a:solidFill>
            <a:srgbClr val="FEF08A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4686300"/>
            <a:ext cx="2762250" cy="828675"/>
          </a:xfrm>
          <a:prstGeom prst="roundRect">
            <a:avLst>
              <a:gd name="adj" fmla="val 11494"/>
            </a:avLst>
          </a:prstGeom>
          <a:solidFill>
            <a:srgbClr val="FED7AA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8650" y="2228850"/>
            <a:ext cx="3038475" cy="904875"/>
          </a:xfrm>
          <a:prstGeom prst="roundRect">
            <a:avLst>
              <a:gd name="adj" fmla="val 10526"/>
            </a:avLst>
          </a:prstGeom>
          <a:solidFill>
            <a:srgbClr val="FED7AA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8650" y="3514725"/>
            <a:ext cx="3038475" cy="904875"/>
          </a:xfrm>
          <a:prstGeom prst="roundRect">
            <a:avLst>
              <a:gd name="adj" fmla="val 10526"/>
            </a:avLst>
          </a:prstGeom>
          <a:solidFill>
            <a:srgbClr val="FED7AA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38650" y="4819650"/>
            <a:ext cx="3038475" cy="638175"/>
          </a:xfrm>
          <a:prstGeom prst="roundRect">
            <a:avLst>
              <a:gd name="adj" fmla="val 8955"/>
            </a:avLst>
          </a:prstGeom>
          <a:solidFill>
            <a:srgbClr val="FEF08A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39125" y="2238375"/>
            <a:ext cx="3038475" cy="628650"/>
          </a:xfrm>
          <a:prstGeom prst="roundRect">
            <a:avLst>
              <a:gd name="adj" fmla="val 9090"/>
            </a:avLst>
          </a:prstGeom>
          <a:solidFill>
            <a:srgbClr val="FEF08A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39125" y="3209925"/>
            <a:ext cx="3038475" cy="428625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39125" y="3981450"/>
            <a:ext cx="3038475" cy="676275"/>
          </a:xfrm>
          <a:prstGeom prst="roundRect">
            <a:avLst>
              <a:gd name="adj" fmla="val 14084"/>
            </a:avLst>
          </a:prstGeom>
          <a:solidFill>
            <a:srgbClr val="FED7AA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39125" y="5019675"/>
            <a:ext cx="3038475" cy="428625"/>
          </a:xfrm>
          <a:prstGeom prst="roundRect">
            <a:avLst>
              <a:gd name="adj" fmla="val 50000"/>
            </a:avLst>
          </a:prstGeom>
          <a:solidFill>
            <a:srgbClr val="F5D0FE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3690937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725" y="3690937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191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KR"/>
              </a:rPr>
              <a:t>02. 본론 (Body) — 시스템 실행 흐름도 (Standard Flowchart)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"/>
            <a:ext cx="466153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400" b="1" i="0" u="none">
                <a:solidFill>
                  <a:srgbClr val="0F172A"/>
                </a:solidFill>
                <a:latin typeface="Noto Sans KR"/>
              </a:rPr>
              <a:t>알고리즘 시각화 플로우 차트 과정</a:t>
            </a:r>
            <a:r>
              <a:rPr lang="en-US" altLang="ko-KR" sz="2400" b="1" i="0" u="none">
                <a:solidFill>
                  <a:srgbClr val="0F172A"/>
                </a:solidFill>
                <a:latin typeface="Noto Sans KR"/>
              </a:rPr>
              <a:t>.</a:t>
            </a:r>
            <a:endParaRPr sz="240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62187" y="2695575"/>
            <a:ext cx="352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KR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2187" y="3467100"/>
            <a:ext cx="352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KR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2187" y="4438650"/>
            <a:ext cx="352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KR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7096" y="3248025"/>
            <a:ext cx="56733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KR"/>
              </a:rPr>
              <a:t>↓ 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6625" y="4533900"/>
            <a:ext cx="202796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↓ 매칭 완료 / No(동적 생성)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5025" y="2962275"/>
            <a:ext cx="352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KR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5025" y="3733800"/>
            <a:ext cx="352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KR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9462" y="4752975"/>
            <a:ext cx="1263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KR"/>
              </a:rPr>
              <a:t>↓ No (종료/대기)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931" y="2286000"/>
            <a:ext cx="2643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시작 (Start)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431" y="3057525"/>
            <a:ext cx="3024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URL 입력 / 칩 선택 (Input Event)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431" y="3829050"/>
            <a:ext cx="30241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URL 문자열 전처리 (Protocol / www 제거)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431" y="4819650"/>
            <a:ext cx="3024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[조건] URL 입력 존재 여부?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431" y="5057775"/>
            <a:ext cx="30241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C2626"/>
                </a:solidFill>
                <a:latin typeface="Noto Sans KR"/>
              </a:rPr>
              <a:t>No(미입력) ➔ 대기 화면 표시 (Placeholder)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3153" y="2381250"/>
            <a:ext cx="3369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1차 판별: 서브도메인 / 전용 매핑 존재?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3153" y="2638425"/>
            <a:ext cx="336946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5803D"/>
                </a:solidFill>
                <a:latin typeface="Noto Sans KR"/>
              </a:rPr>
              <a:t>Yes ➔ 특화 카테고리 매칭 (게이밍/웹툰/쇼핑 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3153" y="3667125"/>
            <a:ext cx="3369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2차 판별: 도메인 키워드 매칭 성공?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3153" y="3924300"/>
            <a:ext cx="336946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5803D"/>
                </a:solidFill>
                <a:latin typeface="Noto Sans KR"/>
              </a:rPr>
              <a:t>Yes ➔ 연관 카테고리 매칭 (news, shop, pay 등)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3153" y="4953000"/>
            <a:ext cx="336946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동적 알고리즘 그래프 생성 (Y-Split / Star / Serial)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3628" y="2352675"/>
            <a:ext cx="33694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SVG 캔버스 노드 렌더링 &amp; 사이드바 업데이트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3628" y="3324225"/>
            <a:ext cx="3369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시각화 화면 출력 완료 &amp; 로그 트래킹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3628" y="4114800"/>
            <a:ext cx="3369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[인터랙션] 노드 마우스 호버 발생?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3628" y="4352925"/>
            <a:ext cx="3369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D4ED8"/>
                </a:solidFill>
                <a:latin typeface="Noto Sans KR"/>
              </a:rPr>
              <a:t>Yes ➔ 상세 툴팁 노출 후 종료 대기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4128" y="5133975"/>
            <a:ext cx="2988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종료 (End)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2687"/>
            <a:ext cx="3479750" cy="28956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452687"/>
            <a:ext cx="3479750" cy="28956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452687"/>
            <a:ext cx="3479750" cy="28956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953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KR"/>
              </a:rPr>
              <a:t>02. 본론 (Body) — '주소핫' 데이터 연동 로직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무의미한 더미(Dummy) 데이터 배제 및 실제 인터넷 생태계 트래픽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4453" y="2871787"/>
            <a:ext cx="1090042" cy="11079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2563EB"/>
                </a:solidFill>
                <a:latin typeface="Noto Sans KR" panose="020B0200000000000000" pitchFamily="50" charset="-127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939" y="4090987"/>
            <a:ext cx="376707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Noto Sans KR"/>
              </a:rPr>
              <a:t>공식 모니터링 데이터베이스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631" y="4471987"/>
            <a:ext cx="3587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Noto Sans KR"/>
              </a:rPr>
              <a:t>주소핫 공식 모니터링 사이트 실시간 상태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0903" y="2871787"/>
            <a:ext cx="1090042" cy="11079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0F172A"/>
                </a:solidFill>
                <a:latin typeface="Noto Sans KR" panose="020B0200000000000000" pitchFamily="50" charset="-127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2389" y="4090987"/>
            <a:ext cx="376707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Noto Sans KR"/>
              </a:rPr>
              <a:t>인터넷 주요 핵심 카테고리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2081" y="4471987"/>
            <a:ext cx="3587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Noto Sans KR"/>
              </a:rPr>
              <a:t>검색·뉴스·OTT·AI도구·코인 등 핵심 분야 망라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4843" y="2871787"/>
            <a:ext cx="1635063" cy="11079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0D9488"/>
                </a:solidFill>
                <a:latin typeface="Noto Sans KR" panose="020B0200000000000000" pitchFamily="50" charset="-127"/>
              </a:rPr>
              <a:t>363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8839" y="4090987"/>
            <a:ext cx="376707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Noto Sans KR"/>
              </a:rPr>
              <a:t>총 연동 모니터링 웹사이트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8531" y="4471987"/>
            <a:ext cx="3587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Noto Sans KR"/>
              </a:rPr>
              <a:t>실시간 접속 현황 및 28개 세부 분류 메타데이터 연동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09812"/>
            <a:ext cx="5105400" cy="31623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19800" y="2276475"/>
            <a:ext cx="5562600" cy="3228975"/>
          </a:xfrm>
          <a:prstGeom prst="roundRect">
            <a:avLst>
              <a:gd name="adj" fmla="val 47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6300" y="3071812"/>
            <a:ext cx="4682732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86500" y="2952750"/>
            <a:ext cx="5029200" cy="161925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KR"/>
              </a:rPr>
              <a:t>02. 본론 (Body) — Dynamic Interest Parser 및 실시간 이벤트 로그 트래킹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7561365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실시간 트렌드 데이터 파싱과 77ms 초저지연</a:t>
            </a:r>
            <a:r>
              <a:rPr lang="en-US" sz="2550" b="1" i="0" u="none">
                <a:solidFill>
                  <a:srgbClr val="0F172A"/>
                </a:solidFill>
                <a:latin typeface="Noto Sans KR"/>
              </a:rPr>
              <a:t> </a:t>
            </a:r>
            <a:r>
              <a:rPr lang="ko-KR" altLang="en-US" sz="2550" b="1" i="0" u="none">
                <a:solidFill>
                  <a:srgbClr val="0F172A"/>
                </a:solidFill>
                <a:latin typeface="Noto Sans KR"/>
              </a:rPr>
              <a:t>방법 적용 </a:t>
            </a:r>
            <a:endParaRPr sz="25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2614612"/>
            <a:ext cx="60007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4ED8"/>
                </a:solidFill>
                <a:latin typeface="Noto Sans KR"/>
              </a:rPr>
              <a:t>DYNAMIC INTEREST 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581275"/>
            <a:ext cx="275876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Noto Sans KR" panose="020B0200000000000000" pitchFamily="50" charset="-127"/>
              </a:rPr>
              <a:t>REAL-TIME EVENT LOG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74345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Noto Sans KR"/>
              </a:rPr>
              <a:t>마우스 오버(Hover) 인터랙션:</a:t>
            </a:r>
            <a:r>
              <a:rPr sz="1350" b="0" i="0" u="none">
                <a:solidFill>
                  <a:srgbClr val="E2E8F0"/>
                </a:solidFill>
                <a:latin typeface="Noto Sans KR"/>
              </a:rPr>
              <a:t> 특정 노드에 마우스를 올릴 시 77ms 소요시간과 함께 밝은 점선으로 핵심 데이터 흐름 활성화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243262"/>
            <a:ext cx="169158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Noto Sans KR"/>
              </a:rPr>
              <a:t>12 카테고리 (28개 분류)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6122" y="3249283"/>
            <a:ext cx="114329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KR"/>
              </a:rPr>
              <a:t>➔ PARSER 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7161" y="3281121"/>
            <a:ext cx="164187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D9488"/>
                </a:solidFill>
                <a:latin typeface="Noto Sans KR"/>
              </a:rPr>
              <a:t>#실시간이슈 #통합검색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43362"/>
            <a:ext cx="46672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Noto Sans KR"/>
              </a:rPr>
              <a:t>Data Parser:</a:t>
            </a:r>
            <a:r>
              <a:rPr sz="1425" b="0" i="0" u="none">
                <a:solidFill>
                  <a:srgbClr val="334155"/>
                </a:solidFill>
                <a:latin typeface="Noto Sans KR"/>
              </a:rPr>
              <a:t> URL 도메인 및 28개 세부 분류 </a:t>
            </a:r>
            <a:endParaRPr lang="en-US" sz="1425" b="0" i="0" u="none">
              <a:solidFill>
                <a:srgbClr val="334155"/>
              </a:solidFill>
              <a:latin typeface="Noto Sans KR"/>
            </a:endParaRPr>
          </a:p>
          <a:p>
            <a:pPr algn="l"/>
            <a:r>
              <a:rPr lang="en-US" sz="1425">
                <a:solidFill>
                  <a:srgbClr val="334155"/>
                </a:solidFill>
                <a:latin typeface="Noto Sans KR"/>
              </a:rPr>
              <a:t>                           </a:t>
            </a:r>
            <a:r>
              <a:rPr sz="1425" b="0" i="0" u="none">
                <a:solidFill>
                  <a:srgbClr val="334155"/>
                </a:solidFill>
                <a:latin typeface="Noto Sans KR"/>
              </a:rPr>
              <a:t>실시간 노드 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672012"/>
            <a:ext cx="46672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Noto Sans KR"/>
              </a:rPr>
              <a:t>Trend Analyzer:</a:t>
            </a:r>
            <a:r>
              <a:rPr sz="1425" b="0" i="0" u="none">
                <a:solidFill>
                  <a:srgbClr val="334155"/>
                </a:solidFill>
                <a:latin typeface="Noto Sans KR"/>
              </a:rPr>
              <a:t> 관심사 1·2순위 및 </a:t>
            </a:r>
            <a:endParaRPr lang="en-US" sz="1425" b="0" i="0" u="none">
              <a:solidFill>
                <a:srgbClr val="334155"/>
              </a:solidFill>
              <a:latin typeface="Noto Sans KR"/>
            </a:endParaRPr>
          </a:p>
          <a:p>
            <a:pPr algn="l"/>
            <a:r>
              <a:rPr lang="en-US" sz="1425">
                <a:solidFill>
                  <a:srgbClr val="334155"/>
                </a:solidFill>
                <a:latin typeface="Noto Sans KR"/>
              </a:rPr>
              <a:t>                                   </a:t>
            </a:r>
            <a:r>
              <a:rPr sz="1425" b="0" i="0" u="none">
                <a:solidFill>
                  <a:srgbClr val="334155"/>
                </a:solidFill>
                <a:latin typeface="Noto Sans KR"/>
              </a:rPr>
              <a:t>상위 점유 관심 지표(%)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3124200"/>
            <a:ext cx="348492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DE80"/>
                </a:solidFill>
                <a:latin typeface="Noto Sans KR" panose="020B0200000000000000" pitchFamily="50" charset="-127"/>
              </a:rPr>
              <a:t>[00:00:01] System initialized. NGINX L7 Proxy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950" y="3371850"/>
            <a:ext cx="47815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Noto Sans KR" panose="020B0200000000000000" pitchFamily="50" charset="-127"/>
              </a:rPr>
              <a:t>[00:00:02] Loaded interests-data-v2.js (28 categories).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950" y="3790950"/>
            <a:ext cx="321081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3C5FD"/>
                </a:solidFill>
                <a:latin typeface="Noto Sans KR" panose="020B0200000000000000" pitchFamily="50" charset="-127"/>
              </a:rPr>
              <a:t>[14:29:08] Target Domain Changed: [naver.com]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4038600"/>
            <a:ext cx="47815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ACC15"/>
                </a:solidFill>
                <a:latin typeface="Noto Sans KR" panose="020B0200000000000000" pitchFamily="50" charset="-127"/>
              </a:rPr>
              <a:t>[14:29:08] Interaction Triggered: Hover node (소요 시간: 77ms)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72000"/>
            <a:ext cx="5391150" cy="1190625"/>
          </a:xfrm>
          <a:prstGeom prst="roundRect">
            <a:avLst>
              <a:gd name="adj" fmla="val 112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4572000"/>
            <a:ext cx="5391150" cy="1190625"/>
          </a:xfrm>
          <a:prstGeom prst="roundRect">
            <a:avLst>
              <a:gd name="adj" fmla="val 112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981200"/>
            <a:ext cx="10972800" cy="2381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981200"/>
          <a:ext cx="10972799" cy="2381250"/>
        </p:xfrm>
        <a:graphic>
          <a:graphicData uri="http://schemas.openxmlformats.org/drawingml/2006/table">
            <a:tbl>
              <a:tblPr/>
              <a:tblGrid>
                <a:gridCol w="1910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312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비교 항목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[Before] 1차 초기 버전 (v1)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[After] 2차 최종 버전 (v12)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2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토폴로지 UI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64748B"/>
                          </a:solidFill>
                          <a:latin typeface="Noto Sans KR"/>
                        </a:rPr>
                        <a:t>단순 원형 점과 정적 직선 연결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2563EB"/>
                          </a:solidFill>
                          <a:latin typeface="Noto Sans KR"/>
                        </a:rPr>
                        <a:t>네온 블록 노드 및 동적 점선 스트림 렌더링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2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데이터 활용성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64748B"/>
                          </a:solidFill>
                          <a:latin typeface="Noto Sans KR"/>
                        </a:rPr>
                        <a:t>분석 데이터가 시스템 내부에 고립됨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D9488"/>
                          </a:solidFill>
                          <a:latin typeface="Noto Sans KR"/>
                        </a:rPr>
                        <a:t>'요약 복사(Summary Copy)'로 외부 즉시 반출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4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도메인 분석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64748B"/>
                          </a:solidFill>
                          <a:latin typeface="Noto Sans KR"/>
                        </a:rPr>
                        <a:t>고정된 설명 텍스트 단순 출력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2563EB"/>
                          </a:solidFill>
                          <a:latin typeface="Noto Sans KR"/>
                        </a:rPr>
                        <a:t>응답 지연(10.7ms) 및 관심 지표(97% 등) 산출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Noto Sans KR"/>
              </a:rPr>
              <a:t>03. 결과 (Results) — v1 대비 v12 고도화 및 '요약 복사' 신규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7521290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550" b="1">
                <a:solidFill>
                  <a:srgbClr val="0F172A"/>
                </a:solidFill>
                <a:latin typeface="Noto Sans KR"/>
              </a:rPr>
              <a:t>새로운 디자인 개선 및 </a:t>
            </a:r>
            <a:r>
              <a:rPr sz="2550" b="1" i="0" u="none">
                <a:solidFill>
                  <a:srgbClr val="0F172A"/>
                </a:solidFill>
                <a:latin typeface="Noto Sans KR"/>
              </a:rPr>
              <a:t>분석 데이터 외부 확장성 극대화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781550"/>
            <a:ext cx="647580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4ED8"/>
                </a:solidFill>
                <a:latin typeface="Noto Sans KR"/>
              </a:rPr>
              <a:t>v12 요약 복사 작동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095875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3A8A"/>
                </a:solidFill>
                <a:latin typeface="Noto Sans KR"/>
              </a:rPr>
              <a:t>최종 연산 결과값(Response)과 사용자 분석 데이터를 단일 텍스트·JSON 폼으로 클립보드 일괄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4781550"/>
            <a:ext cx="5772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Noto Sans KR"/>
              </a:rPr>
              <a:t>핵심 효용성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5095875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15E59"/>
                </a:solidFill>
                <a:latin typeface="Noto Sans KR"/>
              </a:rPr>
              <a:t>시각화된 분석 결과를 외부 보고서나 타 시스템으로 즉각 반출하여 확장성 대폭 향상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2A690-09D8-A201-C995-72B68947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D0E1A-2569-0160-1765-7A467DB0DCEC}"/>
              </a:ext>
            </a:extLst>
          </p:cNvPr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Noto Sans KR"/>
              </a:rPr>
              <a:t>03. 결과 (Results) — v1 대비 v12 고도화 및 '요약 복사' 신규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C7E86-4856-6E0F-9AD1-90305501F66A}"/>
              </a:ext>
            </a:extLst>
          </p:cNvPr>
          <p:cNvSpPr txBox="1"/>
          <p:nvPr/>
        </p:nvSpPr>
        <p:spPr>
          <a:xfrm>
            <a:off x="609600" y="714375"/>
            <a:ext cx="7784182" cy="7848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550" b="1">
                <a:solidFill>
                  <a:srgbClr val="0F172A"/>
                </a:solidFill>
                <a:latin typeface="Noto Sans KR"/>
              </a:rPr>
              <a:t>새로운 디자인 개선 및 분석 데이터 외부 확장성 극대화</a:t>
            </a:r>
          </a:p>
          <a:p>
            <a:pPr algn="l"/>
            <a:endParaRPr sz="2550" b="1" i="0" u="none">
              <a:solidFill>
                <a:srgbClr val="0F172A"/>
              </a:solidFill>
              <a:latin typeface="Noto Sans KR"/>
            </a:endParaRPr>
          </a:p>
        </p:txBody>
      </p:sp>
      <p:pic>
        <p:nvPicPr>
          <p:cNvPr id="17" name="그림 16" descr="The image illustrates an AI recommendation system using neural networks to process user preferences and suggest videos, including a flowchart detailing the process from data ingestion to video ranking.&#10;&#10;AI 생성 콘텐츠는 정확하지 않을 수 있습니다.">
            <a:extLst>
              <a:ext uri="{FF2B5EF4-FFF2-40B4-BE49-F238E27FC236}">
                <a16:creationId xmlns:a16="http://schemas.microsoft.com/office/drawing/2014/main" id="{3563B5A5-693A-0C6B-F873-1A55468BA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14" y="1384186"/>
            <a:ext cx="5724586" cy="3006207"/>
          </a:xfrm>
          <a:prstGeom prst="rect">
            <a:avLst/>
          </a:prstGeom>
        </p:spPr>
      </p:pic>
      <p:pic>
        <p:nvPicPr>
          <p:cNvPr id="19" name="그림 18" descr="The image appears to be a visualization of an NGINX L7 algorithm, depicting a series of network processing steps, including CDN edge server interactions, Deep Neural Network (DNN) candidate generation, and HLS (HTTP Live Streaming) transcoding for real-time video streaming.&#10;&#10;AI 생성 콘텐츠는 정확하지 않을 수 있습니다.">
            <a:extLst>
              <a:ext uri="{FF2B5EF4-FFF2-40B4-BE49-F238E27FC236}">
                <a16:creationId xmlns:a16="http://schemas.microsoft.com/office/drawing/2014/main" id="{DDBA3A74-304C-4020-8031-5545B6934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937" y="1384186"/>
            <a:ext cx="5661909" cy="2999346"/>
          </a:xfrm>
          <a:prstGeom prst="rect">
            <a:avLst/>
          </a:prstGeom>
        </p:spPr>
      </p:pic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D53FD14E-639B-461C-A6F4-7434F5358336}"/>
              </a:ext>
            </a:extLst>
          </p:cNvPr>
          <p:cNvSpPr/>
          <p:nvPr/>
        </p:nvSpPr>
        <p:spPr>
          <a:xfrm>
            <a:off x="371414" y="4623758"/>
            <a:ext cx="5724586" cy="1955321"/>
          </a:xfrm>
          <a:prstGeom prst="roundRect">
            <a:avLst>
              <a:gd name="adj" fmla="val 112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8AD6392D-6F4E-6188-1161-29144E8A88BB}"/>
              </a:ext>
            </a:extLst>
          </p:cNvPr>
          <p:cNvSpPr/>
          <p:nvPr/>
        </p:nvSpPr>
        <p:spPr>
          <a:xfrm>
            <a:off x="6221936" y="4623758"/>
            <a:ext cx="5598650" cy="1955321"/>
          </a:xfrm>
          <a:prstGeom prst="roundRect">
            <a:avLst>
              <a:gd name="adj" fmla="val 112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57DBC1-187F-E032-BCD4-CDC54488C5B0}"/>
              </a:ext>
            </a:extLst>
          </p:cNvPr>
          <p:cNvSpPr txBox="1"/>
          <p:nvPr/>
        </p:nvSpPr>
        <p:spPr>
          <a:xfrm>
            <a:off x="838200" y="4781550"/>
            <a:ext cx="132408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>
                <a:solidFill>
                  <a:srgbClr val="1D4ED8"/>
                </a:solidFill>
                <a:latin typeface="Noto Sans KR"/>
              </a:rPr>
              <a:t>V1 </a:t>
            </a:r>
            <a:r>
              <a:rPr lang="ko-KR" altLang="en-US" sz="1500" b="1" i="0" u="none">
                <a:solidFill>
                  <a:srgbClr val="1D4ED8"/>
                </a:solidFill>
                <a:latin typeface="Noto Sans KR"/>
              </a:rPr>
              <a:t>기존 디자인 </a:t>
            </a:r>
            <a:endParaRPr sz="1500" b="1" i="0" u="none">
              <a:solidFill>
                <a:srgbClr val="1D4ED8"/>
              </a:solidFill>
              <a:latin typeface="Noto Sans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21707F-B4A7-0145-5593-0FFBE5707A3B}"/>
              </a:ext>
            </a:extLst>
          </p:cNvPr>
          <p:cNvSpPr txBox="1"/>
          <p:nvPr/>
        </p:nvSpPr>
        <p:spPr>
          <a:xfrm>
            <a:off x="838200" y="5095875"/>
            <a:ext cx="5029200" cy="1246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0" i="0" u="none">
                <a:solidFill>
                  <a:srgbClr val="1E3A8A"/>
                </a:solidFill>
                <a:latin typeface="Noto Sans KR"/>
              </a:rPr>
              <a:t>간단한 알고리즘 시각화 실행 버튼</a:t>
            </a:r>
            <a:r>
              <a:rPr lang="en-US" altLang="ko-KR" sz="1350" b="0" i="0" u="none">
                <a:solidFill>
                  <a:srgbClr val="1E3A8A"/>
                </a:solidFill>
                <a:latin typeface="Noto Sans KR"/>
              </a:rPr>
              <a:t>, </a:t>
            </a:r>
            <a:br>
              <a:rPr lang="en-US" altLang="ko-KR" sz="1350" b="0" i="0" u="none">
                <a:solidFill>
                  <a:srgbClr val="1E3A8A"/>
                </a:solidFill>
                <a:latin typeface="Noto Sans KR"/>
              </a:rPr>
            </a:br>
            <a:r>
              <a:rPr lang="ko-KR" altLang="en-US" sz="1350" b="0" i="0" u="none">
                <a:solidFill>
                  <a:srgbClr val="1E3A8A"/>
                </a:solidFill>
                <a:latin typeface="Noto Sans KR"/>
              </a:rPr>
              <a:t>간단한 설명 및 요약</a:t>
            </a:r>
            <a:r>
              <a:rPr lang="ko-KR" altLang="en-US" sz="1350">
                <a:solidFill>
                  <a:srgbClr val="1E3A8A"/>
                </a:solidFill>
                <a:latin typeface="Noto Sans KR"/>
              </a:rPr>
              <a:t>의 대한 설명을 추가하였음</a:t>
            </a:r>
            <a:r>
              <a:rPr lang="en-US" altLang="ko-KR" sz="1350">
                <a:solidFill>
                  <a:srgbClr val="1E3A8A"/>
                </a:solidFill>
                <a:latin typeface="Noto Sans KR"/>
              </a:rPr>
              <a:t>. </a:t>
            </a:r>
            <a:br>
              <a:rPr lang="en-US" altLang="ko-KR" sz="1350">
                <a:solidFill>
                  <a:srgbClr val="1E3A8A"/>
                </a:solidFill>
                <a:latin typeface="Noto Sans KR"/>
              </a:rPr>
            </a:br>
            <a:r>
              <a:rPr lang="en-US" altLang="ko-KR" sz="1350">
                <a:solidFill>
                  <a:srgbClr val="1E3A8A"/>
                </a:solidFill>
                <a:latin typeface="Noto Sans KR"/>
              </a:rPr>
              <a:t>(</a:t>
            </a:r>
            <a:r>
              <a:rPr lang="ko-KR" altLang="en-US" sz="1350">
                <a:solidFill>
                  <a:srgbClr val="1E3A8A"/>
                </a:solidFill>
                <a:latin typeface="Noto Sans KR"/>
              </a:rPr>
              <a:t>알고리즘 종류</a:t>
            </a:r>
            <a:r>
              <a:rPr lang="en-US" altLang="ko-KR" sz="1350">
                <a:solidFill>
                  <a:srgbClr val="1E3A8A"/>
                </a:solidFill>
                <a:latin typeface="Noto Sans KR"/>
              </a:rPr>
              <a:t>, </a:t>
            </a:r>
            <a:r>
              <a:rPr lang="ko-KR" altLang="en-US" sz="1350">
                <a:solidFill>
                  <a:srgbClr val="1E3A8A"/>
                </a:solidFill>
                <a:latin typeface="Noto Sans KR"/>
              </a:rPr>
              <a:t>원리</a:t>
            </a:r>
            <a:r>
              <a:rPr lang="en-US" altLang="ko-KR" sz="1350">
                <a:solidFill>
                  <a:srgbClr val="1E3A8A"/>
                </a:solidFill>
                <a:latin typeface="Noto Sans KR"/>
              </a:rPr>
              <a:t>, </a:t>
            </a:r>
            <a:r>
              <a:rPr lang="ko-KR" altLang="en-US" sz="1350">
                <a:solidFill>
                  <a:srgbClr val="1E3A8A"/>
                </a:solidFill>
                <a:latin typeface="Noto Sans KR"/>
              </a:rPr>
              <a:t>정보 처리 과정</a:t>
            </a:r>
            <a:r>
              <a:rPr lang="en-US" altLang="ko-KR" sz="1350">
                <a:solidFill>
                  <a:srgbClr val="1E3A8A"/>
                </a:solidFill>
                <a:latin typeface="Noto Sans KR"/>
              </a:rPr>
              <a:t>, </a:t>
            </a:r>
            <a:r>
              <a:rPr lang="ko-KR" altLang="en-US" sz="1350">
                <a:solidFill>
                  <a:srgbClr val="1E3A8A"/>
                </a:solidFill>
                <a:latin typeface="Noto Sans KR"/>
              </a:rPr>
              <a:t>데이터 조회 등을 시도</a:t>
            </a:r>
            <a:r>
              <a:rPr lang="en-US" altLang="ko-KR" sz="1350">
                <a:solidFill>
                  <a:srgbClr val="1E3A8A"/>
                </a:solidFill>
                <a:latin typeface="Noto Sans KR"/>
              </a:rPr>
              <a:t>)</a:t>
            </a:r>
            <a:br>
              <a:rPr lang="en-US" altLang="ko-KR" sz="1350">
                <a:solidFill>
                  <a:srgbClr val="1E3A8A"/>
                </a:solidFill>
                <a:latin typeface="Noto Sans KR"/>
              </a:rPr>
            </a:br>
            <a:br>
              <a:rPr lang="en-US" altLang="ko-KR" sz="1350">
                <a:solidFill>
                  <a:srgbClr val="1E3A8A"/>
                </a:solidFill>
                <a:latin typeface="Noto Sans KR"/>
              </a:rPr>
            </a:br>
            <a:r>
              <a:rPr lang="ko-KR" altLang="en-US" sz="1350">
                <a:solidFill>
                  <a:srgbClr val="1E3A8A"/>
                </a:solidFill>
                <a:latin typeface="Noto Sans KR"/>
              </a:rPr>
              <a:t>그러나 데이터 조회 정확성</a:t>
            </a:r>
            <a:r>
              <a:rPr lang="en-US" altLang="ko-KR" sz="1350">
                <a:solidFill>
                  <a:srgbClr val="1E3A8A"/>
                </a:solidFill>
                <a:latin typeface="Noto Sans KR"/>
              </a:rPr>
              <a:t>, </a:t>
            </a:r>
            <a:r>
              <a:rPr lang="ko-KR" altLang="en-US" sz="1350">
                <a:solidFill>
                  <a:srgbClr val="1E3A8A"/>
                </a:solidFill>
                <a:latin typeface="Noto Sans KR"/>
              </a:rPr>
              <a:t>관련성에 대한 입증과 잘못된 </a:t>
            </a:r>
            <a:br>
              <a:rPr lang="en-US" altLang="ko-KR" sz="1350">
                <a:solidFill>
                  <a:srgbClr val="1E3A8A"/>
                </a:solidFill>
                <a:latin typeface="Noto Sans KR"/>
              </a:rPr>
            </a:br>
            <a:r>
              <a:rPr lang="ko-KR" altLang="en-US" sz="1350">
                <a:solidFill>
                  <a:srgbClr val="1E3A8A"/>
                </a:solidFill>
                <a:latin typeface="Noto Sans KR"/>
              </a:rPr>
              <a:t>정보 인식이 대해 해결할 필요가 많이 있었음</a:t>
            </a:r>
            <a:r>
              <a:rPr lang="en-US" altLang="ko-KR" sz="1350">
                <a:solidFill>
                  <a:srgbClr val="1E3A8A"/>
                </a:solidFill>
                <a:latin typeface="Noto Sans KR"/>
              </a:rPr>
              <a:t>. </a:t>
            </a:r>
            <a:endParaRPr sz="1350" b="0" i="0" u="none">
              <a:solidFill>
                <a:srgbClr val="1E3A8A"/>
              </a:solidFill>
              <a:latin typeface="Noto Sans K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53DE4A-601D-893E-0473-50A02AA2BC7E}"/>
              </a:ext>
            </a:extLst>
          </p:cNvPr>
          <p:cNvSpPr txBox="1"/>
          <p:nvPr/>
        </p:nvSpPr>
        <p:spPr>
          <a:xfrm>
            <a:off x="6419850" y="5095875"/>
            <a:ext cx="5029200" cy="1246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0" i="0" u="none">
                <a:solidFill>
                  <a:srgbClr val="115E59"/>
                </a:solidFill>
                <a:latin typeface="Noto Sans KR"/>
              </a:rPr>
              <a:t>시각화 시스템을 새롭게 개선함</a:t>
            </a:r>
            <a:r>
              <a:rPr lang="en-US" altLang="ko-KR" sz="1350" b="0" i="0" u="none">
                <a:solidFill>
                  <a:srgbClr val="115E59"/>
                </a:solidFill>
                <a:latin typeface="Noto Sans KR"/>
              </a:rPr>
              <a:t>.</a:t>
            </a:r>
          </a:p>
          <a:p>
            <a:pPr algn="l"/>
            <a:r>
              <a:rPr lang="ko-KR" altLang="en-US" sz="1350" b="0" i="0" u="none">
                <a:solidFill>
                  <a:srgbClr val="115E59"/>
                </a:solidFill>
                <a:latin typeface="Noto Sans KR"/>
              </a:rPr>
              <a:t>문제였던 그래프 표에 대한 노드를 완전히 없애고 </a:t>
            </a:r>
            <a:br>
              <a:rPr lang="en-US" altLang="ko-KR" sz="1350" b="0" i="0" u="none">
                <a:solidFill>
                  <a:srgbClr val="115E59"/>
                </a:solidFill>
                <a:latin typeface="Noto Sans KR"/>
              </a:rPr>
            </a:br>
            <a:r>
              <a:rPr lang="ko-KR" altLang="en-US" sz="1350" b="0" i="0" u="none">
                <a:solidFill>
                  <a:srgbClr val="115E59"/>
                </a:solidFill>
                <a:latin typeface="Noto Sans KR"/>
              </a:rPr>
              <a:t>새로운 그래프 형식으로 바꾸었음</a:t>
            </a:r>
            <a:r>
              <a:rPr lang="en-US" altLang="ko-KR" sz="1350" b="0" i="0" u="none">
                <a:solidFill>
                  <a:srgbClr val="115E59"/>
                </a:solidFill>
                <a:latin typeface="Noto Sans KR"/>
              </a:rPr>
              <a:t>. </a:t>
            </a:r>
            <a:br>
              <a:rPr lang="en-US" altLang="ko-KR" sz="1350" b="0" i="0" u="none">
                <a:solidFill>
                  <a:srgbClr val="115E59"/>
                </a:solidFill>
                <a:latin typeface="Noto Sans KR"/>
              </a:rPr>
            </a:br>
            <a:br>
              <a:rPr lang="en-US" altLang="ko-KR" sz="1350" b="0" i="0" u="none">
                <a:solidFill>
                  <a:srgbClr val="115E59"/>
                </a:solidFill>
                <a:latin typeface="Noto Sans KR"/>
              </a:rPr>
            </a:br>
            <a:r>
              <a:rPr lang="ko-KR" altLang="en-US" sz="1350" b="0" i="0" u="none">
                <a:solidFill>
                  <a:srgbClr val="115E59"/>
                </a:solidFill>
                <a:latin typeface="Noto Sans KR"/>
              </a:rPr>
              <a:t>플로우 차트의 칸 형식 표처럼 표현하여</a:t>
            </a:r>
            <a:r>
              <a:rPr lang="en-US" altLang="ko-KR" sz="1350" b="0" i="0" u="none">
                <a:solidFill>
                  <a:srgbClr val="115E59"/>
                </a:solidFill>
                <a:latin typeface="Noto Sans KR"/>
              </a:rPr>
              <a:t>, </a:t>
            </a:r>
            <a:r>
              <a:rPr lang="ko-KR" altLang="en-US" sz="1350" b="0" i="0" u="none">
                <a:solidFill>
                  <a:srgbClr val="115E59"/>
                </a:solidFill>
                <a:latin typeface="Noto Sans KR"/>
              </a:rPr>
              <a:t>칸에 간단하게</a:t>
            </a:r>
            <a:br>
              <a:rPr lang="en-US" altLang="ko-KR" sz="1350" b="0" i="0" u="none">
                <a:solidFill>
                  <a:srgbClr val="115E59"/>
                </a:solidFill>
                <a:latin typeface="Noto Sans KR"/>
              </a:rPr>
            </a:br>
            <a:r>
              <a:rPr lang="ko-KR" altLang="en-US" sz="1350" b="0" i="0" u="none">
                <a:solidFill>
                  <a:srgbClr val="115E59"/>
                </a:solidFill>
                <a:latin typeface="Noto Sans KR"/>
              </a:rPr>
              <a:t>요약 설명을 넣었고</a:t>
            </a:r>
            <a:r>
              <a:rPr lang="en-US" altLang="ko-KR" sz="1350" b="0" i="0" u="none">
                <a:solidFill>
                  <a:srgbClr val="115E59"/>
                </a:solidFill>
                <a:latin typeface="Noto Sans KR"/>
              </a:rPr>
              <a:t>, </a:t>
            </a:r>
            <a:endParaRPr sz="1350" b="0" i="0" u="none">
              <a:solidFill>
                <a:srgbClr val="115E59"/>
              </a:solidFill>
              <a:latin typeface="Noto Sans K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5BD7CC-499E-5333-B45A-76C03EEB61CA}"/>
              </a:ext>
            </a:extLst>
          </p:cNvPr>
          <p:cNvSpPr txBox="1"/>
          <p:nvPr/>
        </p:nvSpPr>
        <p:spPr>
          <a:xfrm>
            <a:off x="6419850" y="4781550"/>
            <a:ext cx="237244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>
                <a:solidFill>
                  <a:srgbClr val="0F766E"/>
                </a:solidFill>
                <a:latin typeface="Noto Sans KR"/>
              </a:rPr>
              <a:t>V2 </a:t>
            </a:r>
            <a:r>
              <a:rPr lang="ko-KR" altLang="en-US" sz="1500" b="1" i="0" u="none">
                <a:solidFill>
                  <a:srgbClr val="0F766E"/>
                </a:solidFill>
                <a:latin typeface="Noto Sans KR"/>
              </a:rPr>
              <a:t>새로운 디자인 개선 버전</a:t>
            </a:r>
            <a:endParaRPr sz="1500" b="1" i="0" u="none">
              <a:solidFill>
                <a:srgbClr val="0F766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937314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71725"/>
            <a:ext cx="5369272" cy="3038475"/>
          </a:xfrm>
          <a:prstGeom prst="roundRect">
            <a:avLst>
              <a:gd name="adj" fmla="val 501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1772" y="2014537"/>
            <a:ext cx="5260627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1772" y="2986087"/>
            <a:ext cx="5260627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21772" y="3957637"/>
            <a:ext cx="5260627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21772" y="4929187"/>
            <a:ext cx="5260627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Noto Sans KR"/>
              </a:rPr>
              <a:t>03. 결과 (Results) — GitHub 형상 관리 내역 및 프로젝트 로드맵 완수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누적 29회 커밋 기반 체계적 버전 관리와 전 단계 목표 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6525"/>
            <a:ext cx="53492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0" i="0" u="none">
                <a:solidFill>
                  <a:srgbClr val="38BDF8"/>
                </a:solidFill>
                <a:latin typeface="Noto Sans KR" panose="020B0200000000000000" pitchFamily="50" charset="-127"/>
              </a:rPr>
              <a:t>GitHub </a:t>
            </a:r>
            <a:r>
              <a:rPr lang="ko-KR" altLang="en-US" sz="1200" b="0" i="0" u="none">
                <a:solidFill>
                  <a:srgbClr val="38BDF8"/>
                </a:solidFill>
                <a:latin typeface="Noto Sans KR" panose="020B0200000000000000" pitchFamily="50" charset="-127"/>
              </a:rPr>
              <a:t>소스코드 주소 </a:t>
            </a:r>
            <a:r>
              <a:rPr sz="1200" b="0" i="0" u="none">
                <a:solidFill>
                  <a:srgbClr val="38BDF8"/>
                </a:solidFill>
                <a:latin typeface="Noto Sans KR" panose="020B0200000000000000" pitchFamily="50" charset="-127"/>
              </a:rPr>
              <a:t>: </a:t>
            </a:r>
            <a:r>
              <a:rPr lang="en-US" sz="1200">
                <a:solidFill>
                  <a:srgbClr val="38BDF8"/>
                </a:solidFill>
                <a:latin typeface="Noto Sans KR" panose="020B0200000000000000" pitchFamily="50" charset="-127"/>
              </a:rPr>
              <a:t>https://github.com/wpdbs04/-algorithm_project-_1.</a:t>
            </a:r>
            <a:endParaRPr sz="1200" b="0" i="0" u="none">
              <a:solidFill>
                <a:srgbClr val="38BDF8"/>
              </a:solidFill>
              <a:latin typeface="Noto Sans KR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952750"/>
            <a:ext cx="2651367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FFFFFF"/>
                </a:solidFill>
                <a:latin typeface="Grandview" panose="020F0502020204030204" pitchFamily="34" charset="0"/>
              </a:rPr>
              <a:t>29 Commits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3800"/>
            <a:ext cx="594959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Noto Sans KR"/>
              </a:rPr>
              <a:t>지속적 형상 관리:</a:t>
            </a:r>
            <a:r>
              <a:rPr sz="1350" b="0" i="0" u="none">
                <a:solidFill>
                  <a:srgbClr val="CBD5E1"/>
                </a:solidFill>
                <a:latin typeface="Noto Sans KR"/>
              </a:rPr>
              <a:t> v1부터 v12 업데이트까지 코드 이력 보존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6700"/>
            <a:ext cx="485492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Noto Sans KR"/>
              </a:rPr>
              <a:t>실시간 문서화:</a:t>
            </a:r>
            <a:r>
              <a:rPr sz="1350" b="0" i="0" u="none">
                <a:solidFill>
                  <a:srgbClr val="CBD5E1"/>
                </a:solidFill>
                <a:latin typeface="Noto Sans KR"/>
              </a:rPr>
              <a:t> README.md 주차별 기록 및 AI 설계 이력 투명화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48200"/>
            <a:ext cx="485492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Noto Sans KR"/>
              </a:rPr>
              <a:t>산출물 통합 아카이빙:</a:t>
            </a:r>
            <a:r>
              <a:rPr sz="1350" b="0" i="0" u="none">
                <a:solidFill>
                  <a:srgbClr val="CBD5E1"/>
                </a:solidFill>
                <a:latin typeface="Noto Sans KR"/>
              </a:rPr>
              <a:t> 기획안(PDF), 1·2차 HTML 원본, 보고서 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1322" y="2185987"/>
            <a:ext cx="493677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563EB"/>
                </a:solidFill>
                <a:latin typeface="Noto Sans KR"/>
              </a:rPr>
              <a:t>Phase 1 [완료]</a:t>
            </a:r>
            <a:r>
              <a:rPr sz="1425" b="1" i="0" u="none">
                <a:solidFill>
                  <a:srgbClr val="0F172A"/>
                </a:solidFill>
                <a:latin typeface="Noto Sans KR"/>
              </a:rPr>
              <a:t> NGINX 기반 L7 로드 밸런싱 및 MSA 토폴로지 구축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1322" y="3157537"/>
            <a:ext cx="493677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563EB"/>
                </a:solidFill>
                <a:latin typeface="Noto Sans KR"/>
              </a:rPr>
              <a:t>Phase 2 [완료]</a:t>
            </a:r>
            <a:r>
              <a:rPr sz="1425" b="1" i="0" u="none">
                <a:solidFill>
                  <a:srgbClr val="0F172A"/>
                </a:solidFill>
                <a:latin typeface="Noto Sans KR"/>
              </a:rPr>
              <a:t> 주소핫 12개 카테고리 363개 실제 데이터 파싱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1322" y="4129087"/>
            <a:ext cx="493677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D9488"/>
                </a:solidFill>
                <a:latin typeface="Noto Sans KR"/>
              </a:rPr>
              <a:t>Phase 3 [완료]</a:t>
            </a:r>
            <a:r>
              <a:rPr sz="1425" b="1" i="0" u="none">
                <a:solidFill>
                  <a:srgbClr val="0F172A"/>
                </a:solidFill>
                <a:latin typeface="Noto Sans KR"/>
              </a:rPr>
              <a:t> v12 요약 복사 기능 및 인터랙티브 점선 애니메이션 탑재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1322" y="5100637"/>
            <a:ext cx="493677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D9488"/>
                </a:solidFill>
                <a:latin typeface="Noto Sans KR"/>
              </a:rPr>
              <a:t>Phase 4 [완료]</a:t>
            </a:r>
            <a:r>
              <a:rPr sz="1425" b="1" i="0" u="none">
                <a:solidFill>
                  <a:srgbClr val="0F172A"/>
                </a:solidFill>
                <a:latin typeface="Noto Sans KR"/>
              </a:rPr>
              <a:t> 생성형 AI 활용 로직 스크립트 최적화 및 버그 픽스 완수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7585" y="2153278"/>
            <a:ext cx="34797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64035" y="2153278"/>
            <a:ext cx="34797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10485" y="2153278"/>
            <a:ext cx="34797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35" y="2515228"/>
            <a:ext cx="266848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785" y="2515228"/>
            <a:ext cx="266848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235" y="2515228"/>
            <a:ext cx="266848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953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KR"/>
              </a:rPr>
              <a:t>04. 느낀점 (Reflection) — 프로젝트 회고 및 성찰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8148064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설계 변경과 구현 과정을 통해 체득한 공학적 가치</a:t>
            </a:r>
            <a:r>
              <a:rPr lang="en-US" sz="2550" b="1" i="0" u="none">
                <a:solidFill>
                  <a:srgbClr val="0F172A"/>
                </a:solidFill>
                <a:latin typeface="Noto Sans KR"/>
              </a:rPr>
              <a:t> (</a:t>
            </a:r>
            <a:r>
              <a:rPr lang="ko-KR" altLang="en-US" sz="2550" b="1" i="0" u="none">
                <a:solidFill>
                  <a:srgbClr val="0F172A"/>
                </a:solidFill>
                <a:latin typeface="Noto Sans KR"/>
              </a:rPr>
              <a:t>느낀 점</a:t>
            </a:r>
            <a:r>
              <a:rPr lang="en-US" altLang="ko-KR" sz="2550" b="1" i="0" u="none">
                <a:solidFill>
                  <a:srgbClr val="0F172A"/>
                </a:solidFill>
                <a:latin typeface="Noto Sans KR"/>
              </a:rPr>
              <a:t>.) </a:t>
            </a:r>
            <a:endParaRPr sz="25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3335" y="3048628"/>
            <a:ext cx="381707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KR"/>
              </a:rPr>
              <a:t>전공 이론의 실전 시각화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335" y="3467728"/>
            <a:ext cx="3003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KR"/>
              </a:rPr>
              <a:t>웹프로그래밍 수업의 NGINX 개념을 실제 인터랙티브 화면으로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785" y="3048628"/>
            <a:ext cx="381707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KR"/>
              </a:rPr>
              <a:t>실제 데이터 연동의 중요성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785" y="3467728"/>
            <a:ext cx="3003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KR"/>
              </a:rPr>
              <a:t>무의미한 더미 데이터를 넘어 363개 도메인 연동으로 현실성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863" y="3048628"/>
            <a:ext cx="38037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KR"/>
              </a:rPr>
              <a:t>AI 협업 및 형상 관리 역량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35" y="3467728"/>
            <a:ext cx="3003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KR"/>
              </a:rPr>
              <a:t>생성형 AI 프롬프트 설계와 GitHub 29회 커밋으로 문제 해결력 강화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67EEBA-B5D0-6755-62C0-282F0567BDAB}"/>
              </a:ext>
            </a:extLst>
          </p:cNvPr>
          <p:cNvSpPr txBox="1"/>
          <p:nvPr/>
        </p:nvSpPr>
        <p:spPr>
          <a:xfrm>
            <a:off x="609600" y="4655944"/>
            <a:ext cx="108079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600" b="1" i="0" u="none">
                <a:solidFill>
                  <a:srgbClr val="0F172A"/>
                </a:solidFill>
                <a:latin typeface="Noto Sans KR"/>
              </a:rPr>
              <a:t>&gt;&gt; </a:t>
            </a:r>
            <a:r>
              <a:rPr lang="ko-KR" altLang="en-US" sz="1600" b="1" i="0" u="none">
                <a:solidFill>
                  <a:srgbClr val="0F172A"/>
                </a:solidFill>
                <a:latin typeface="Noto Sans KR"/>
              </a:rPr>
              <a:t>이번 창의공학설계 과목에서 </a:t>
            </a:r>
            <a:r>
              <a:rPr lang="en-US" altLang="ko-KR" sz="1600" b="1" i="0" u="none">
                <a:solidFill>
                  <a:srgbClr val="0F172A"/>
                </a:solidFill>
                <a:latin typeface="Noto Sans KR"/>
              </a:rPr>
              <a:t>“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텀 개인 프로젝트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” 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를 진행하여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, AI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에 대한 활용도를 조금 더 심화적으로 사용해보는 </a:t>
            </a:r>
            <a:br>
              <a:rPr lang="en-US" altLang="ko-KR" sz="1600" b="1">
                <a:solidFill>
                  <a:srgbClr val="0F172A"/>
                </a:solidFill>
                <a:latin typeface="Noto Sans KR"/>
              </a:rPr>
            </a:b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       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계기가 되었으며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, 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생성형 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AI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에서도 여러가지 종류를 통해 방법을 찾아 새로운 코딩에 대한 활용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, 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코딩에 대한 </a:t>
            </a:r>
            <a:br>
              <a:rPr lang="en-US" altLang="ko-KR" sz="1600" b="1">
                <a:solidFill>
                  <a:srgbClr val="0F172A"/>
                </a:solidFill>
                <a:latin typeface="Noto Sans KR"/>
              </a:rPr>
            </a:b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       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방법의 모색하고 새로운 기술을 통해 프로젝트를 진행하는 과정에서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, 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결국 이 도구를 사용하기 위해서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, </a:t>
            </a:r>
            <a:br>
              <a:rPr lang="en-US" altLang="ko-KR" sz="1600" b="1">
                <a:solidFill>
                  <a:srgbClr val="0F172A"/>
                </a:solidFill>
                <a:latin typeface="Noto Sans KR"/>
              </a:rPr>
            </a:b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       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규칙과 프롬포트를 넣고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, </a:t>
            </a:r>
            <a:r>
              <a:rPr lang="ko-KR" altLang="en-US" sz="1600" b="1">
                <a:solidFill>
                  <a:srgbClr val="0F172A"/>
                </a:solidFill>
                <a:latin typeface="Noto Sans KR"/>
              </a:rPr>
              <a:t>설계의 뼈대를 담당하는 것이 가장 중요하다고 느끼게 되었습니다</a:t>
            </a:r>
            <a:r>
              <a:rPr lang="en-US" altLang="ko-KR" sz="1600" b="1">
                <a:solidFill>
                  <a:srgbClr val="0F172A"/>
                </a:solidFill>
                <a:latin typeface="Noto Sans KR"/>
              </a:rPr>
              <a:t>. </a:t>
            </a:r>
          </a:p>
          <a:p>
            <a:pPr algn="l"/>
            <a:endParaRPr sz="1600" b="1" i="0" u="none">
              <a:solidFill>
                <a:srgbClr val="0F172A"/>
              </a:solidFill>
              <a:latin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747837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74913" y="3157537"/>
            <a:ext cx="3642023" cy="10156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600" b="1" i="0" u="none">
                <a:solidFill>
                  <a:srgbClr val="F8FAFC"/>
                </a:solidFill>
                <a:latin typeface="Noto Sans KR" panose="020B0200000000000000" pitchFamily="50" charset="-127"/>
              </a:rPr>
              <a:t>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3166" y="4291012"/>
            <a:ext cx="3185666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93C5FD"/>
                </a:solidFill>
                <a:latin typeface="Noto Sans KR"/>
              </a:rPr>
              <a:t>봐주셔서 감사합니다.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6643" y="4881562"/>
            <a:ext cx="887871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Noto Sans KR"/>
              </a:rPr>
              <a:t>창의공학설계 텀 프로젝트 | 인터랙티브 알고리즘 시각화 툴 프로젝트 — 이제윤 (LEE JEYUN)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1388</Words>
  <Application>Microsoft Office PowerPoint</Application>
  <PresentationFormat>와이드스크린</PresentationFormat>
  <Paragraphs>173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Grandview</vt:lpstr>
      <vt:lpstr>Noto Sans KR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제윤 이</cp:lastModifiedBy>
  <cp:revision>12</cp:revision>
  <dcterms:created xsi:type="dcterms:W3CDTF">2013-01-27T09:14:16Z</dcterms:created>
  <dcterms:modified xsi:type="dcterms:W3CDTF">2026-10-26T04:01:39Z</dcterms:modified>
  <cp:category/>
</cp:coreProperties>
</file>